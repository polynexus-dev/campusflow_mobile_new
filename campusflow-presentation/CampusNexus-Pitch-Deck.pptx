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0914"/>
              </a:gs>
              <a:gs pos="100000">
                <a:srgbClr val="4A15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8229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7C3085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22960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977639" cy="457200"/>
          </a:xfrm>
          <a:prstGeom prst="roundRect">
            <a:avLst>
              <a:gd name="adj" fmla="val 50000"/>
            </a:avLst>
          </a:prstGeom>
          <a:solidFill>
            <a:srgbClr val="2A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BCFC"/>
                </a:solidFill>
                <a:latin typeface="Calibri"/>
              </a:rPr>
              <a:t>CAMPUS ERP &amp; ATTENDANCE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Trebuchet MS"/>
              </a:rPr>
              <a:t>One Platform for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Trebuchet MS"/>
              </a:rPr>
              <a:t>Every Campus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2DDE5"/>
                </a:solidFill>
                <a:latin typeface="Calibri"/>
              </a:rPr>
              <a:t>Verified attendance, live transport, and a full campus ERP — replacing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2DDE5"/>
                </a:solidFill>
                <a:latin typeface="Calibri"/>
              </a:rPr>
              <a:t>proxy check-ins and scattered paperwork with one system of record.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989320"/>
            <a:ext cx="10543032" cy="0"/>
          </a:xfrm>
          <a:prstGeom prst="line">
            <a:avLst/>
          </a:prstGeom>
          <a:ln w="12700">
            <a:solidFill>
              <a:srgbClr val="3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Presented to: 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172200"/>
            <a:ext cx="4050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C7B0D3"/>
                </a:solidFill>
                <a:latin typeface="Calibri"/>
              </a:rPr>
              <a:t>PolyNexus Technologies · campusnexus.in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THE 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What's Breaking Down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The gap between how attendance is taken and how easily it can be faked.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3520440" cy="2834640"/>
          </a:xfrm>
          <a:prstGeom prst="roundRect">
            <a:avLst>
              <a:gd name="adj" fmla="val 55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971800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A154B"/>
                </a:solidFill>
                <a:latin typeface="Trebuchet MS"/>
              </a:rPr>
              <a:t>Proxy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25C66"/>
                </a:solidFill>
                <a:latin typeface="Calibri"/>
              </a:rPr>
              <a:t>Students mark friends present using shared QR screenshots, borrowed ID cards, or spoofed GPS location apps.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651760"/>
            <a:ext cx="3520440" cy="2834640"/>
          </a:xfrm>
          <a:prstGeom prst="roundRect">
            <a:avLst>
              <a:gd name="adj" fmla="val 55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6008" y="2971800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3429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A154B"/>
                </a:solidFill>
                <a:latin typeface="Trebuchet MS"/>
              </a:rPr>
              <a:t>Scattered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977639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25C66"/>
                </a:solidFill>
                <a:latin typeface="Calibri"/>
              </a:rPr>
              <a:t>Fees, hostel, library, transport and payroll all live in separate registers and spreadsheets that don't talk to each other.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2651760"/>
            <a:ext cx="3520440" cy="2834640"/>
          </a:xfrm>
          <a:prstGeom prst="roundRect">
            <a:avLst>
              <a:gd name="adj" fmla="val 55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49056" y="2971800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3429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A154B"/>
                </a:solidFill>
                <a:latin typeface="Trebuchet MS"/>
              </a:rPr>
              <a:t>Lost Teaching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977639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25C66"/>
                </a:solidFill>
                <a:latin typeface="Calibri"/>
              </a:rPr>
              <a:t>Faculty lose the first several minutes of every class to manual roll calls and paperwork, every single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THE SOLUTION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3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One App. Verified Attendance. Zero Paperwork.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From face registration to a fully audited campus record, in three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352044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4A154B"/>
                </a:solidFill>
                <a:latin typeface="Trebuchet MS"/>
              </a:rPr>
              <a:t>Enroll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25C66"/>
                </a:solidFill>
                <a:latin typeface="Calibri"/>
              </a:rPr>
              <a:t>Student securely registers their face at admission — a one-time, guided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0632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C3085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651760"/>
            <a:ext cx="352044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36008" y="2926080"/>
            <a:ext cx="548640" cy="54864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70332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4A154B"/>
                </a:solidFill>
                <a:latin typeface="Trebuchet MS"/>
              </a:rPr>
              <a:t>Check In Instantly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20624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25C66"/>
                </a:solidFill>
                <a:latin typeface="Calibri"/>
              </a:rPr>
              <a:t>A live face check, classroom location, and faculty session code confirm real presence in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06324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C3085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9016" y="2651760"/>
            <a:ext cx="352044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49056" y="2926080"/>
            <a:ext cx="548640" cy="54864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70332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4A154B"/>
                </a:solidFill>
                <a:latin typeface="Trebuchet MS"/>
              </a:rPr>
              <a:t>Everything Is 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420624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25C66"/>
                </a:solidFill>
                <a:latin typeface="Calibri"/>
              </a:rPr>
              <a:t>Attendance, fees, hostel, transport and more — all in one system,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FRAUD PREVENTION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4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Built So Proxy Attendance Can't Happen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Four layers work together — removing any one of them isn't enough to fake a check-in.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" y="2862072"/>
            <a:ext cx="365760" cy="36576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7063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Device-Locked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3639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Each student is tied to one registered device at enrollment. Attendance can't be handed off to a friend's phone.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60604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4" y="2862072"/>
            <a:ext cx="365760" cy="36576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77063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Live Face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13639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Random pose checks — blink, turn, nod — stop spoofing with a printed photo or a video playback.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4416552"/>
            <a:ext cx="365760" cy="36576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Classroom Geofence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9087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Presence is confirmed against the real location the lecturer just checked into, not a fixed point that can be spoofed.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16052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01384" y="4416552"/>
            <a:ext cx="365760" cy="36576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Human-Reviewed Appeals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69087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Genuine failures — bad lighting, no signal — go to a faculty review queue. No student is silently penalized.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FULL CAMPUS ERP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5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It's Not Just Attendance — It's the Whole Campus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19 integrated modules. One login for every role, from Principal to student.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70632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C3085"/>
                </a:solidFill>
                <a:latin typeface="Calibri"/>
              </a:rPr>
              <a:t>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108960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Timetable &amp; Sessions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Valuation &amp; 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260604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770632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C3085"/>
                </a:solidFill>
                <a:latin typeface="Calibri"/>
              </a:rP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08960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Fees &amp; Invoicing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Payroll &amp; Leave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60604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2770632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C3085"/>
                </a:solidFill>
                <a:latin typeface="Calibri"/>
              </a:rPr>
              <a:t>CAMPUS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3108960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Hostel &amp; Mess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Library Circulation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325112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C3085"/>
                </a:solidFill>
                <a:latin typeface="Calibri"/>
              </a:rPr>
              <a:t>TRANSPORT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663440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Live Bus Tracking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QR Boarding Passes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416052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325112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C3085"/>
                </a:solidFill>
                <a:latin typeface="Calibri"/>
              </a:rPr>
              <a:t>CAREERS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63440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Placement &amp; TPO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5" y="4160520"/>
            <a:ext cx="35661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7" y="4325112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C3085"/>
                </a:solidFill>
                <a:latin typeface="Calibri"/>
              </a:rPr>
              <a:t>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7" y="4663440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B1F"/>
                </a:solidFill>
                <a:latin typeface="Calibri"/>
              </a:rPr>
              <a:t>•  Inventory &amp; Suppliers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25C66"/>
                </a:solidFill>
                <a:latin typeface="Calibri"/>
              </a:rPr>
              <a:t>19 integrated modules, one login — no separate systems to reconcile.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TRANSPORT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Parents &amp; Students See the Bus,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Transport is one of the most-requested features — and one of the easiest wins to show.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807208"/>
            <a:ext cx="146304" cy="146304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E1B1F"/>
                </a:solidFill>
                <a:latin typeface="Calibri"/>
              </a:rPr>
              <a:t>Real-time GPS location shown on a live map for every route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584448"/>
            <a:ext cx="146304" cy="146304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E1B1F"/>
                </a:solidFill>
                <a:latin typeface="Calibri"/>
              </a:rPr>
              <a:t>Per-route QR boarding passes — no manual passenger lists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361688"/>
            <a:ext cx="146304" cy="146304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E1B1F"/>
                </a:solidFill>
                <a:latin typeface="Calibri"/>
              </a:rPr>
              <a:t>Driver/conductor app tracks boarded vs. remaining passengers, stop by stop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138928"/>
            <a:ext cx="146304" cy="146304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E1B1F"/>
                </a:solidFill>
                <a:latin typeface="Calibri"/>
              </a:rPr>
              <a:t>Fee-due status checked automatically at boarding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TRUST &amp; COMPLIANCE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Privacy-First, Audit-Ready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Designed to protect student privacy while giving your accreditation team the evidence they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" y="2862072"/>
            <a:ext cx="365760" cy="365760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7063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No Photos Stored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3639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Faces are converted into a secure, unmatchable digital code used only for verification — never stored as photographs.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60604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4" y="2862072"/>
            <a:ext cx="365760" cy="365760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77063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Immutable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13639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Every record change is logged with who, when, and what changed — ready for institutional and accreditation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4416552"/>
            <a:ext cx="365760" cy="365760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Enforced Role-Based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9087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No one sees more than their role allows — enforced by the system itself, not just hidden buttons in the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16052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FCFC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01384" y="4416552"/>
            <a:ext cx="365760" cy="365760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A154B"/>
                </a:solidFill>
                <a:latin typeface="Trebuchet MS"/>
              </a:rPr>
              <a:t>Complete Data Isolation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69087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25C66"/>
                </a:solidFill>
                <a:latin typeface="Calibri"/>
              </a:rPr>
              <a:t>Your college's data is kept entirely separate and private, even across our own multi-college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WHY SWITCH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8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CampusNexus vs. What You're Using Today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514600"/>
          <a:ext cx="111831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931920"/>
                <a:gridCol w="3959352"/>
              </a:tblGrid>
              <a:tr h="71323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rebuchet MS"/>
                        </a:rPr>
                        <a:t>Feature</a:t>
                      </a:r>
                    </a:p>
                  </a:txBody>
                  <a:tcPr anchor="ctr">
                    <a:solidFill>
                      <a:srgbClr val="4A1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rebuchet MS"/>
                        </a:rPr>
                        <a:t>CampusNexus</a:t>
                      </a:r>
                    </a:p>
                  </a:txBody>
                  <a:tcPr anchor="ctr">
                    <a:solidFill>
                      <a:srgbClr val="4A1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rebuchet MS"/>
                        </a:rPr>
                        <a:t>Traditional Systems</a:t>
                      </a:r>
                    </a:p>
                  </a:txBody>
                  <a:tcPr anchor="ctr">
                    <a:solidFill>
                      <a:srgbClr val="4A154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1B1F"/>
                          </a:solidFill>
                          <a:latin typeface="Calibri"/>
                        </a:rPr>
                        <a:t>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7C3085"/>
                          </a:solidFill>
                          <a:latin typeface="Calibri"/>
                        </a:rPr>
                        <a:t>Transparent, per-student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25C66"/>
                          </a:solidFill>
                          <a:latin typeface="Calibri"/>
                        </a:rPr>
                        <a:t>Custom quotes, often opaque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1B1F"/>
                          </a:solidFill>
                          <a:latin typeface="Calibri"/>
                        </a:rPr>
                        <a:t>Attendance Proof</a:t>
                      </a:r>
                    </a:p>
                  </a:txBody>
                  <a:tcPr anchor="ctr">
                    <a:solidFill>
                      <a:srgbClr val="F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7C3085"/>
                          </a:solidFill>
                          <a:latin typeface="Calibri"/>
                        </a:rPr>
                        <a:t>Live face + location check</a:t>
                      </a:r>
                    </a:p>
                  </a:txBody>
                  <a:tcPr anchor="ctr">
                    <a:solidFill>
                      <a:srgbClr val="F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25C66"/>
                          </a:solidFill>
                          <a:latin typeface="Calibri"/>
                        </a:rPr>
                        <a:t>Manual roll call or basic QR only</a:t>
                      </a:r>
                    </a:p>
                  </a:txBody>
                  <a:tcPr anchor="ctr">
                    <a:solidFill>
                      <a:srgbClr val="FAF5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1B1F"/>
                          </a:solidFill>
                          <a:latin typeface="Calibri"/>
                        </a:rPr>
                        <a:t>Setup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7C3085"/>
                          </a:solidFill>
                          <a:latin typeface="Calibri"/>
                        </a:rPr>
                        <a:t>Live in days, fully cloud-based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25C66"/>
                          </a:solidFill>
                          <a:latin typeface="Calibri"/>
                        </a:rPr>
                        <a:t>Weeks of setup, local 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1B1F"/>
                          </a:solidFill>
                          <a:latin typeface="Calibri"/>
                        </a:rPr>
                        <a:t>Email / SMTP Services</a:t>
                      </a:r>
                    </a:p>
                  </a:txBody>
                  <a:tcPr anchor="ctr">
                    <a:solidFill>
                      <a:srgbClr val="F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7C3085"/>
                          </a:solidFill>
                          <a:latin typeface="Calibri"/>
                        </a:rPr>
                        <a:t>Included at no extra cost</a:t>
                      </a:r>
                    </a:p>
                  </a:txBody>
                  <a:tcPr anchor="ctr">
                    <a:solidFill>
                      <a:srgbClr val="F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25C66"/>
                          </a:solidFill>
                          <a:latin typeface="Calibri"/>
                        </a:rPr>
                        <a:t>Usually a paid add-on</a:t>
                      </a:r>
                    </a:p>
                  </a:txBody>
                  <a:tcPr anchor="ctr">
                    <a:solidFill>
                      <a:srgbClr val="FA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PRICING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9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Simple, Transparent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One rate. All 19 modules included. No hidden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25C66"/>
                </a:solidFill>
                <a:latin typeface="Calibri"/>
              </a:rPr>
              <a:t>MONTHLY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4A154B"/>
                </a:solidFill>
                <a:latin typeface="Trebuchet MS"/>
              </a:rPr>
              <a:t>₹60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520440"/>
            <a:ext cx="3749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25C66"/>
                </a:solidFill>
                <a:latin typeface="Calibri"/>
              </a:rPr>
              <a:t>/ student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25C66"/>
                </a:solidFill>
                <a:latin typeface="Calibri"/>
              </a:rPr>
              <a:t>Flexible billing, full access to all 19 modules.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60604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AF5FB"/>
          </a:solidFill>
          <a:ln w="12700">
            <a:solidFill>
              <a:srgbClr val="7C3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3085"/>
                </a:solidFill>
                <a:latin typeface="Calibri"/>
              </a:rPr>
              <a:t>ANNUAL · SAVE ~17%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7C3085"/>
                </a:solidFill>
                <a:latin typeface="Trebuchet MS"/>
              </a:rPr>
              <a:t>₹600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520440"/>
            <a:ext cx="3749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25C66"/>
                </a:solidFill>
                <a:latin typeface="Calibri"/>
              </a:rPr>
              <a:t>/ student /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51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25C66"/>
                </a:solidFill>
                <a:latin typeface="Calibri"/>
              </a:rPr>
              <a:t>Equivalent to ₹50/month. Includes free custom email setup.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25C66"/>
                </a:solidFill>
                <a:latin typeface="Calibri"/>
              </a:rPr>
              <a:t>1 free faculty seat per 20 students  ·  Extra staff seats ₹99/month  ·  Bus GPS add-on ₹10/student/month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74320" cy="274320"/>
          </a:xfrm>
          <a:prstGeom prst="ellipse">
            <a:avLst/>
          </a:prstGeom>
          <a:solidFill>
            <a:srgbClr val="7C3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154B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370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625C66"/>
                </a:solidFill>
                <a:latin typeface="Calibri"/>
              </a:rPr>
              <a:t>WHAT'S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5875">
            <a:solidFill>
              <a:srgbClr val="F4F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CampusNexus · PolyNexus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25C66"/>
                </a:solidFill>
                <a:latin typeface="Calibri"/>
              </a:rPr>
              <a:t>10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A154B"/>
                </a:solidFill>
                <a:latin typeface="Trebuchet MS"/>
              </a:rPr>
              <a:t>Actively Growing — What's Coming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25C66"/>
                </a:solidFill>
                <a:latin typeface="Calibri"/>
              </a:rPr>
              <a:t>We're already building the next layer on top of what's live today.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807208"/>
            <a:ext cx="146304" cy="146304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1B1F"/>
                </a:solidFill>
                <a:latin typeface="Calibri"/>
              </a:rPr>
              <a:t>Visitor &amp; student early-leave gate passes, verified by security via QR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584448"/>
            <a:ext cx="146304" cy="146304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1B1F"/>
                </a:solidFill>
                <a:latin typeface="Calibri"/>
              </a:rPr>
              <a:t>Automated semester and course-end clearance across fees, library, hostel and inventory dues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361688"/>
            <a:ext cx="146304" cy="146304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1B1F"/>
                </a:solidFill>
                <a:latin typeface="Calibri"/>
              </a:rPr>
              <a:t>Exam hall entry verification with answer-sheet binding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138928"/>
            <a:ext cx="146304" cy="146304"/>
          </a:xfrm>
          <a:prstGeom prst="ellipse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1B1F"/>
                </a:solidFill>
                <a:latin typeface="Calibri"/>
              </a:rPr>
              <a:t>Parent/guardian companion access for fees and bus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0914"/>
              </a:gs>
              <a:gs pos="100000">
                <a:srgbClr val="4A15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685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7C3085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85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CampusNexus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834640" cy="411480"/>
          </a:xfrm>
          <a:prstGeom prst="roundRect">
            <a:avLst>
              <a:gd name="adj" fmla="val 50000"/>
            </a:avLst>
          </a:prstGeom>
          <a:solidFill>
            <a:srgbClr val="2A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8BCFC"/>
                </a:solidFill>
                <a:latin typeface="Calibri"/>
              </a:rPr>
              <a:t>LAUNCH PARTNER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315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Let's Bring This to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[College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6675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2DDE5"/>
                </a:solidFill>
                <a:latin typeface="Calibri"/>
              </a:rPr>
              <a:t>You'd be one of our very first partner colleges — with direct input into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2DDE5"/>
                </a:solidFill>
                <a:latin typeface="Calibri"/>
              </a:rPr>
              <a:t>what we build next, and no long-term commitment to 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hello@campusnexus.in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7B0D3"/>
                </a:solidFill>
                <a:latin typeface="Calibri"/>
              </a:rPr>
              <a:t>campusnexus.in</a:t>
            </a:r>
          </a:p>
        </p:txBody>
      </p:sp>
      <p:pic>
        <p:nvPicPr>
          <p:cNvPr id="11" name="Picture 10" descr="qr_campusnex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480560"/>
            <a:ext cx="155448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2640" y="60807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7B0D3"/>
                </a:solidFill>
                <a:latin typeface="Calibri"/>
              </a:rPr>
              <a:t>Scan to visit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